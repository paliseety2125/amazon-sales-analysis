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3" r:id="rId6"/>
    <p:sldId id="260" r:id="rId7"/>
    <p:sldId id="265" r:id="rId8"/>
    <p:sldId id="261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%20Analytics\Ageiology%20Project%20data%20analytics\Final%20Report\Pivot%20tables%20&amp;%20charts%2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%20Analytics\Ageiology%20Project%20data%20analytics\Final%20Report\Pivot%20tables%20&amp;%20charts%20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[Pivot tables &amp; charts 3.xlsx]Pivot Tables &amp; Charts 2 !PivotTable7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</a:t>
            </a:r>
            <a:r>
              <a:rPr lang="en-US" baseline="0"/>
              <a:t> Orders </a:t>
            </a:r>
            <a:endParaRPr lang="en-US"/>
          </a:p>
        </c:rich>
      </c:tx>
      <c:layout>
        <c:manualLayout>
          <c:xMode val="edge"/>
          <c:yMode val="edge"/>
          <c:x val="0.34259259259259262"/>
          <c:y val="9.8819361360748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 &amp; Charts 2 '!$B$80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Tables &amp; Charts 2 '!$A$81:$A$86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March</c:v>
                </c:pt>
                <c:pt idx="4">
                  <c:v>(blank)</c:v>
                </c:pt>
              </c:strCache>
            </c:strRef>
          </c:cat>
          <c:val>
            <c:numRef>
              <c:f>'Pivot Tables &amp; Charts 2 '!$B$81:$B$86</c:f>
              <c:numCache>
                <c:formatCode>General</c:formatCode>
                <c:ptCount val="5"/>
                <c:pt idx="0">
                  <c:v>29001309.669999864</c:v>
                </c:pt>
                <c:pt idx="1">
                  <c:v>25504537.649999809</c:v>
                </c:pt>
                <c:pt idx="2">
                  <c:v>22799797.399999969</c:v>
                </c:pt>
                <c:pt idx="3">
                  <c:v>102562.84999999998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3D-44A3-B79D-04D098AE9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3779727"/>
        <c:axId val="903780687"/>
      </c:lineChart>
      <c:catAx>
        <c:axId val="903779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780687"/>
        <c:crosses val="autoZero"/>
        <c:auto val="1"/>
        <c:lblAlgn val="ctr"/>
        <c:lblOffset val="100"/>
        <c:noMultiLvlLbl val="0"/>
      </c:catAx>
      <c:valAx>
        <c:axId val="903780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779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Orders by ship-city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1933114610673669"/>
          <c:y val="0.22161818314377368"/>
          <c:w val="0.50203915135608046"/>
          <c:h val="0.6293157626130067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Bengaluru</c:v>
              </c:pt>
              <c:pt idx="1">
                <c:v>Chennai</c:v>
              </c:pt>
              <c:pt idx="2">
                <c:v>Gurugram</c:v>
              </c:pt>
              <c:pt idx="3">
                <c:v>Hyderabad</c:v>
              </c:pt>
              <c:pt idx="4">
                <c:v>Kolkata</c:v>
              </c:pt>
              <c:pt idx="5">
                <c:v>Mumbai</c:v>
              </c:pt>
              <c:pt idx="6">
                <c:v>New Delhi</c:v>
              </c:pt>
              <c:pt idx="7">
                <c:v>Noida</c:v>
              </c:pt>
              <c:pt idx="8">
                <c:v>Pune</c:v>
              </c:pt>
              <c:pt idx="9">
                <c:v>Thane</c:v>
              </c:pt>
            </c:strLit>
          </c:cat>
          <c:val>
            <c:numLit>
              <c:formatCode>General</c:formatCode>
              <c:ptCount val="10"/>
              <c:pt idx="0">
                <c:v>11547</c:v>
              </c:pt>
              <c:pt idx="1">
                <c:v>6145</c:v>
              </c:pt>
              <c:pt idx="2">
                <c:v>1875</c:v>
              </c:pt>
              <c:pt idx="3">
                <c:v>8824</c:v>
              </c:pt>
              <c:pt idx="4">
                <c:v>2761</c:v>
              </c:pt>
              <c:pt idx="5">
                <c:v>6926</c:v>
              </c:pt>
              <c:pt idx="6">
                <c:v>6114</c:v>
              </c:pt>
              <c:pt idx="7">
                <c:v>1570</c:v>
              </c:pt>
              <c:pt idx="8">
                <c:v>4495</c:v>
              </c:pt>
              <c:pt idx="9">
                <c:v>1824</c:v>
              </c:pt>
            </c:numLit>
          </c:val>
          <c:extLst>
            <c:ext xmlns:c16="http://schemas.microsoft.com/office/drawing/2014/chart" uri="{C3380CC4-5D6E-409C-BE32-E72D297353CC}">
              <c16:uniqueId val="{00000000-A4F9-4B22-B031-E3362250F5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3852031"/>
        <c:axId val="299484399"/>
      </c:barChart>
      <c:catAx>
        <c:axId val="1338520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484399"/>
        <c:crosses val="autoZero"/>
        <c:auto val="1"/>
        <c:lblAlgn val="ctr"/>
        <c:lblOffset val="100"/>
        <c:noMultiLvlLbl val="0"/>
      </c:catAx>
      <c:valAx>
        <c:axId val="299484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852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A6FF7-E904-4D6B-816A-6849DB9D820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7A416-FE45-40BF-866E-5252CABCD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76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7A416-FE45-40BF-866E-5252CABCD32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1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8AD9-3D68-BFA5-566C-0645262C9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23D9F-1BAD-32E1-1B84-6D9237ADE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693F-CFA9-0BE7-8062-C831863E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4C12D-61CC-F9ED-24BF-E6B0F2C0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0F5A-5A73-8A75-D1B5-B899540B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9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B937-4A1D-CA04-27DE-499C953D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E016-79C9-1BC0-1006-15B5BD5A1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C1928-E793-8EBB-544E-034CC978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2773B-4E08-4C80-B25C-8635A9C9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DF717-BFEA-4E51-6B31-AC40815E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51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41CB-C18A-2680-F997-51638908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D3510-A53A-A2FB-8259-7BE541D59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CE691-0C68-8338-0037-2E05A090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D501C-D945-2DBD-CB5C-1FA0D36D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7B121-C025-086F-022C-CF4277CA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2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36A0-8868-EECF-6F56-4C109E39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598AE-5D6E-9938-EDCF-0CEBB0EC9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199D3-09C6-213E-5B2F-A7FE3AA99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C0F84-BACA-CAE8-7F4D-3D2C3C0F3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54280-0E40-082D-66D0-1FA30ACE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9696D-EBA3-2011-7593-75FF51F0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7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B70E-FE08-3546-414E-D2626843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2A75E-ECDF-CC1E-B062-CF12C2E73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334EA-FC5E-33F1-35E8-80727BE59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0134C-3269-084C-933F-7BA47CF89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AD6C9-28DE-F2CC-8B42-6B92823FF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E6B9B-842C-52C2-DE5A-211B9B9D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AF309F-9515-49F4-813B-48B43E33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C700A-DA45-A47E-9CE6-6754EE05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16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A3ED-CA07-850B-DDF3-D3DCFCB1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741EB-1BCB-4B56-F5DA-5D274C7D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B68DE-FACB-141C-E3E6-E042FEB9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868B8-483B-CE07-4FC7-98D0B78C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89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FD037E-C4E3-9130-F475-2F1DD1B3B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EC06B-1A37-D382-B82F-691EF854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B68C4-5853-38CC-73B3-17D0584D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347D-1902-9455-67C2-2850031A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EFB0F-561A-76DD-95BA-E916C39E5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63A83-542F-9BD1-352F-B99FA7462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971A0-1371-96FD-21B2-371EA2F0A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6AB40-0498-3609-D062-E8F19D22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EB7E1-6F42-AF51-F053-63DA0356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42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843E-F138-C107-E0F5-E954D65F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858D6-AD99-1C86-35BE-09EC9C8B6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5B0F1-4305-92CB-4073-526ABC9B7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97F0E-03E3-01C9-CA19-66DEC556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0CD01-FC4B-C9CF-8BBD-B37AC6D4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D1701-6117-4DFE-9D1A-98669C73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7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25D9-0508-3E85-586B-B277DDD0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34143-3330-F743-3152-5C1F39A2B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D5D28-6BF3-510F-4879-1B0F87BB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48A1D-1D30-8297-575C-15994DB9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3A8D-00CC-D0EB-3EC2-B6E3C3ED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2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C5D45-1FFB-E08A-E861-C5477085D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F4649-A79D-AE53-16B3-B09E178A2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F2B7-0433-F805-791E-A5093C86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E3CA6-B32D-19E7-1612-431E6B06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9D1C-C614-44A0-C8AF-1A4F70DA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7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8AC8-0F3B-7A54-0BBA-D03C0A79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DAEFC-D170-CD5C-EFBB-805D2388B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B1ED-8F20-C53E-27C5-D5DA4F5C5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0F4F6-4084-4FFC-865F-1B596087E4C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8E134-20B7-67EF-608A-7F7D0C549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1A22E-3608-F32D-753D-A5AD9EED7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B9B41-9128-4B53-8267-31A4A6700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786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A486-2D5D-FF99-F0D2-F79FC63EA0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Amazon Orders Data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C7A4-100A-9E41-B862-B463D27A0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: Keerthi .P </a:t>
            </a:r>
          </a:p>
          <a:p>
            <a:r>
              <a:rPr lang="en-US" dirty="0"/>
              <a:t>Tools used : Python| SQL | Power BI |Excel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62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FB27-D5AD-A135-251D-1012B50A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9E5CD-636B-FA83-0E95-A11E514C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Dataset : 128K orders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Objective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Analyse customer orders and sales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Identify top-performing states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Understand category demand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Generate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82885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18C1-AFC6-A981-29A0-EAB67F19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F6B9B-D8C7-75EA-7597-1F042A751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– Cleaning </a:t>
            </a:r>
          </a:p>
          <a:p>
            <a:r>
              <a:rPr lang="en-US" dirty="0"/>
              <a:t>Excel – EDA </a:t>
            </a:r>
          </a:p>
          <a:p>
            <a:r>
              <a:rPr lang="en-US" dirty="0"/>
              <a:t>SQL – Analysis </a:t>
            </a:r>
          </a:p>
          <a:p>
            <a:r>
              <a:rPr lang="en-US" dirty="0"/>
              <a:t>Excel – Pivot tables &amp; charts</a:t>
            </a:r>
          </a:p>
          <a:p>
            <a:r>
              <a:rPr lang="en-US" dirty="0"/>
              <a:t>Power BI – Dashboards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66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B5C5-9B35-525F-26C3-0E5C21F3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1917E-F0FB-CBD2-3F3C-E82EB863B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Handling Missing Values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Remove Duplicates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Standardization Done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Outliers Treated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86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D0B7-1BCD-0B9B-C548-68B2E135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Data Cleaning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9586E-0979-4BC1-0053-052B7020D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Cleaning</a:t>
            </a: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CDB6C92F-AE9B-E9C3-E8A5-5CF2E13180C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2228150"/>
              </p:ext>
            </p:extLst>
          </p:nvPr>
        </p:nvGraphicFramePr>
        <p:xfrm>
          <a:off x="304801" y="2861186"/>
          <a:ext cx="5791200" cy="2998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328">
                  <a:extLst>
                    <a:ext uri="{9D8B030D-6E8A-4147-A177-3AD203B41FA5}">
                      <a16:colId xmlns:a16="http://schemas.microsoft.com/office/drawing/2014/main" val="138913054"/>
                    </a:ext>
                  </a:extLst>
                </a:gridCol>
                <a:gridCol w="777552">
                  <a:extLst>
                    <a:ext uri="{9D8B030D-6E8A-4147-A177-3AD203B41FA5}">
                      <a16:colId xmlns:a16="http://schemas.microsoft.com/office/drawing/2014/main" val="155808103"/>
                    </a:ext>
                  </a:extLst>
                </a:gridCol>
                <a:gridCol w="1551692">
                  <a:extLst>
                    <a:ext uri="{9D8B030D-6E8A-4147-A177-3AD203B41FA5}">
                      <a16:colId xmlns:a16="http://schemas.microsoft.com/office/drawing/2014/main" val="292308777"/>
                    </a:ext>
                  </a:extLst>
                </a:gridCol>
                <a:gridCol w="1092274">
                  <a:extLst>
                    <a:ext uri="{9D8B030D-6E8A-4147-A177-3AD203B41FA5}">
                      <a16:colId xmlns:a16="http://schemas.microsoft.com/office/drawing/2014/main" val="2869577969"/>
                    </a:ext>
                  </a:extLst>
                </a:gridCol>
                <a:gridCol w="1203354">
                  <a:extLst>
                    <a:ext uri="{9D8B030D-6E8A-4147-A177-3AD203B41FA5}">
                      <a16:colId xmlns:a16="http://schemas.microsoft.com/office/drawing/2014/main" val="2378148125"/>
                    </a:ext>
                  </a:extLst>
                </a:gridCol>
              </a:tblGrid>
              <a:tr h="1105841">
                <a:tc>
                  <a:txBody>
                    <a:bodyPr/>
                    <a:lstStyle/>
                    <a:p>
                      <a:r>
                        <a:rPr lang="en-US" dirty="0"/>
                        <a:t>Category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Courier Status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884006"/>
                  </a:ext>
                </a:extLst>
              </a:tr>
              <a:tr h="1892998">
                <a:tc>
                  <a:txBody>
                    <a:bodyPr/>
                    <a:lstStyle/>
                    <a:p>
                      <a:r>
                        <a:rPr lang="en-US" dirty="0"/>
                        <a:t>Set 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Western Dress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3XL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Cancelled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None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753.33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IN" dirty="0"/>
                        <a:t>INR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82427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86C36-8D37-49FC-185F-8BAFD9CD1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After Cleaning </a:t>
            </a:r>
            <a:endParaRPr lang="en-IN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8DE86BC9-5AC2-CB67-B117-212746192E6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482547"/>
              </p:ext>
            </p:extLst>
          </p:nvPr>
        </p:nvGraphicFramePr>
        <p:xfrm>
          <a:off x="6489290" y="2856291"/>
          <a:ext cx="5183190" cy="2836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638">
                  <a:extLst>
                    <a:ext uri="{9D8B030D-6E8A-4147-A177-3AD203B41FA5}">
                      <a16:colId xmlns:a16="http://schemas.microsoft.com/office/drawing/2014/main" val="2068372382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2297398967"/>
                    </a:ext>
                  </a:extLst>
                </a:gridCol>
                <a:gridCol w="1134501">
                  <a:extLst>
                    <a:ext uri="{9D8B030D-6E8A-4147-A177-3AD203B41FA5}">
                      <a16:colId xmlns:a16="http://schemas.microsoft.com/office/drawing/2014/main" val="2767776002"/>
                    </a:ext>
                  </a:extLst>
                </a:gridCol>
                <a:gridCol w="938775">
                  <a:extLst>
                    <a:ext uri="{9D8B030D-6E8A-4147-A177-3AD203B41FA5}">
                      <a16:colId xmlns:a16="http://schemas.microsoft.com/office/drawing/2014/main" val="1043697180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1975463548"/>
                    </a:ext>
                  </a:extLst>
                </a:gridCol>
              </a:tblGrid>
              <a:tr h="868036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Courier Status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402977"/>
                  </a:ext>
                </a:extLst>
              </a:tr>
              <a:tr h="1968550">
                <a:tc>
                  <a:txBody>
                    <a:bodyPr/>
                    <a:lstStyle/>
                    <a:p>
                      <a:r>
                        <a:rPr lang="en-US" dirty="0"/>
                        <a:t>Set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Western Dress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3XL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IN" dirty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Cancelled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Unknown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305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IN" dirty="0"/>
                        <a:t>753.33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INR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INR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97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16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F3F7-A798-52BB-963E-7F1CC5DC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80619" cy="763316"/>
          </a:xfrm>
        </p:spPr>
        <p:txBody>
          <a:bodyPr>
            <a:normAutofit fontScale="90000"/>
          </a:bodyPr>
          <a:lstStyle/>
          <a:p>
            <a:r>
              <a:rPr lang="en-US" dirty="0"/>
              <a:t>EDA Distribution by category, size &amp; status  </a:t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F244DF-0209-F057-D82B-54FA5FCD4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794" y="1231483"/>
            <a:ext cx="3824748" cy="2789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876F1A-9B21-C40C-12E6-B7BF828BE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432" y="1372916"/>
            <a:ext cx="4004570" cy="23928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8090F2-4595-137F-4D56-4133975D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9" y="4021394"/>
            <a:ext cx="8944354" cy="271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1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087E-9E07-6242-C1AB-389D20C2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 : Top States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3B7D-F818-9742-9210-FFA3245CC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SELECT </a:t>
            </a:r>
            <a:r>
              <a:rPr lang="en-US" sz="1800" dirty="0" err="1"/>
              <a:t>ship_state</a:t>
            </a:r>
            <a:r>
              <a:rPr lang="en-US" sz="1800" dirty="0"/>
              <a:t>, SUM(Amount) AS </a:t>
            </a:r>
            <a:r>
              <a:rPr lang="en-US" sz="1800" dirty="0" err="1"/>
              <a:t>total_sales</a:t>
            </a:r>
            <a:endParaRPr lang="en-US" sz="1800" dirty="0"/>
          </a:p>
          <a:p>
            <a:r>
              <a:rPr lang="en-US" sz="1800" dirty="0"/>
              <a:t>FROM </a:t>
            </a:r>
            <a:r>
              <a:rPr lang="en-US" sz="1800" dirty="0" err="1"/>
              <a:t>amazon_orders</a:t>
            </a:r>
            <a:endParaRPr lang="en-US" sz="1800" dirty="0"/>
          </a:p>
          <a:p>
            <a:r>
              <a:rPr lang="en-US" sz="1800" dirty="0"/>
              <a:t>GROUP BY </a:t>
            </a:r>
            <a:r>
              <a:rPr lang="en-US" sz="1800" dirty="0" err="1"/>
              <a:t>ship_state</a:t>
            </a:r>
            <a:endParaRPr lang="en-US" sz="1800" dirty="0"/>
          </a:p>
          <a:p>
            <a:r>
              <a:rPr lang="en-US" sz="1800" dirty="0"/>
              <a:t>ORDER BY </a:t>
            </a:r>
            <a:r>
              <a:rPr lang="en-US" sz="1800" dirty="0" err="1"/>
              <a:t>total_sales</a:t>
            </a:r>
            <a:r>
              <a:rPr lang="en-US" sz="1800" dirty="0"/>
              <a:t> desc</a:t>
            </a:r>
          </a:p>
          <a:p>
            <a:r>
              <a:rPr lang="en-US" sz="1800" dirty="0"/>
              <a:t>Limit 5;</a:t>
            </a:r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Insight:</a:t>
            </a:r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Maharashtra generates the highest sales revenue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Karnataka is the second top-performing state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Southern and western regions dominate sales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67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F4B1-4A6F-FEA7-FB32-05E5FC0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 : </a:t>
            </a:r>
            <a:r>
              <a:rPr lang="en-IN" dirty="0"/>
              <a:t>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14B8-93E2-6CD8-5397-93F33AC61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SELECT Category, COUNT(*) AS orders</a:t>
            </a:r>
            <a:br>
              <a:rPr lang="en-IN" sz="2000" dirty="0"/>
            </a:br>
            <a:r>
              <a:rPr lang="en-IN" sz="2000" dirty="0"/>
              <a:t>FROM </a:t>
            </a:r>
            <a:r>
              <a:rPr lang="en-IN" sz="2000" dirty="0" err="1"/>
              <a:t>amazon_orders</a:t>
            </a:r>
            <a:br>
              <a:rPr lang="en-IN" sz="2000" dirty="0"/>
            </a:br>
            <a:r>
              <a:rPr lang="en-IN" sz="2000" dirty="0"/>
              <a:t>GROUP BY Category;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Insight:</a:t>
            </a: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Fashion category has the highest number of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Other categories contribute significantly less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Customer demand is highly concentrated in one category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00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1B5B-9CE5-8030-E63E-BDF8C570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09A49F-E253-BC01-6CEA-DC048D4F5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206014"/>
              </p:ext>
            </p:extLst>
          </p:nvPr>
        </p:nvGraphicFramePr>
        <p:xfrm>
          <a:off x="432619" y="1907458"/>
          <a:ext cx="4227871" cy="2664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1A4F65-093B-4823-808F-FCD7BBC28C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474957"/>
              </p:ext>
            </p:extLst>
          </p:nvPr>
        </p:nvGraphicFramePr>
        <p:xfrm>
          <a:off x="4686300" y="2129790"/>
          <a:ext cx="4742835" cy="2442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85830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0D08-45C7-A9D7-5291-7F3ADE9A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Report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0E823-3A8E-96EE-2739-6217695A9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423" y="1478974"/>
            <a:ext cx="5257800" cy="4215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071EE-949C-4F1B-C1B8-73597A48A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78974"/>
            <a:ext cx="5660577" cy="413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22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D73E-873A-ADCB-3060-F36D1FCE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EA2A-89FD-45AD-8553-D6CD68F49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Focus marketing on profitable customer segments.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Optimize discounts to protect margins.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Expand product lines in high‑demand categories.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Streamline operations to reduce cancellations.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Monitor costs regularly to keep finances under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Build customer trust</a:t>
            </a:r>
            <a:r>
              <a:rPr lang="en-IN" dirty="0"/>
              <a:t> by ensuring timely delivery, responsive service, and encouraging positive reviews.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87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111E-224D-1283-9D09-164499E9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2EDB3-06CE-010C-51E2-22D59769B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Amazon orders analysis shows that fashion products are in very high demand, sales heavily concentrated in a few key states such as Maharashtra and Karnataka. Customers consistently prefer fast, expedited shipping, which strongly influences their buying decisions and overall satisfaction. Seasonal trends and promotional offers also play a crucial role in increasing order volume and customer engagement. Furthermore, improving delivery efficiency and expanding reach in underperforming regions could unlock new growth opportunities. Overall, leveraging data-driven insights can help businesses optimize inventory, enhance customer experience, and maximize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FF59-3AB1-61D8-3D18-CEC1B172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161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398</Words>
  <Application>Microsoft Office PowerPoint</Application>
  <PresentationFormat>Widescreen</PresentationFormat>
  <Paragraphs>111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Amazon Orders Data Analysis </vt:lpstr>
      <vt:lpstr>Overview</vt:lpstr>
      <vt:lpstr>Tools &amp; Workflow</vt:lpstr>
      <vt:lpstr>Data Cleaning Steps</vt:lpstr>
      <vt:lpstr>  Data Cleaning </vt:lpstr>
      <vt:lpstr>EDA Distribution by category, size &amp; status   </vt:lpstr>
      <vt:lpstr>SQL Query : Top States</vt:lpstr>
      <vt:lpstr>SQL Query : Category Analysis</vt:lpstr>
      <vt:lpstr>EXCEL</vt:lpstr>
      <vt:lpstr>Power BI Report</vt:lpstr>
      <vt:lpstr>Business Insights 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Palisetti</dc:creator>
  <cp:lastModifiedBy>Keerthi Palisetti</cp:lastModifiedBy>
  <cp:revision>1</cp:revision>
  <dcterms:created xsi:type="dcterms:W3CDTF">2026-06-18T06:47:35Z</dcterms:created>
  <dcterms:modified xsi:type="dcterms:W3CDTF">2026-06-18T10:43:23Z</dcterms:modified>
</cp:coreProperties>
</file>